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  <p:sldId id="264" r:id="rId10"/>
  </p:sldIdLst>
  <p:sldSz cx="183118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57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483E8A"/>
    <a:srgbClr val="DF5B7F"/>
    <a:srgbClr val="B5B3BF"/>
    <a:srgbClr val="EDEBF7"/>
    <a:srgbClr val="474554"/>
    <a:srgbClr val="ACA7CB"/>
    <a:srgbClr val="5F5C6D"/>
    <a:srgbClr val="FFE4E1"/>
    <a:srgbClr val="4746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-5170" y="-1949"/>
      </p:cViewPr>
      <p:guideLst>
        <p:guide orient="horz" pos="1979"/>
        <p:guide pos="57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9T06:12:38.496"/>
    </inkml:context>
    <inkml:brush xml:id="br0">
      <inkml:brushProperty name="width" value="0.35" units="cm"/>
      <inkml:brushProperty name="height" value="2.1" units="cm"/>
      <inkml:brushProperty name="color" value="#DF5B7F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9T06:12:49.485"/>
    </inkml:context>
    <inkml:brush xml:id="br0">
      <inkml:brushProperty name="width" value="0.35" units="cm"/>
      <inkml:brushProperty name="height" value="2.1" units="cm"/>
      <inkml:brushProperty name="color" value="#DF5B7F"/>
      <inkml:brushProperty name="ignorePressure" value="1"/>
      <inkml:brushProperty name="inkEffects" value="pencil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8977" y="1122363"/>
            <a:ext cx="137338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8977" y="3602038"/>
            <a:ext cx="137338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212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90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400" y="1709739"/>
            <a:ext cx="15793939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9400" y="4589464"/>
            <a:ext cx="1579393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97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8937" y="1825625"/>
            <a:ext cx="778252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70355" y="1825625"/>
            <a:ext cx="778252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353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2" y="365126"/>
            <a:ext cx="15793939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323" y="1681163"/>
            <a:ext cx="774675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323" y="2505075"/>
            <a:ext cx="774675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70355" y="1681163"/>
            <a:ext cx="778490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70355" y="2505075"/>
            <a:ext cx="778490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93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94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3" y="457200"/>
            <a:ext cx="59060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4906" y="987426"/>
            <a:ext cx="927035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323" y="2057400"/>
            <a:ext cx="59060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61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3" y="457200"/>
            <a:ext cx="59060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84906" y="987426"/>
            <a:ext cx="927035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323" y="2057400"/>
            <a:ext cx="59060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10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302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04391" y="365125"/>
            <a:ext cx="394848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8937" y="365125"/>
            <a:ext cx="11616556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415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8937" y="365126"/>
            <a:ext cx="157939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937" y="1825625"/>
            <a:ext cx="157939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8937" y="6356351"/>
            <a:ext cx="41201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CBDCE1-0040-4841-A3D3-7C41B88A2EC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65788" y="6356351"/>
            <a:ext cx="6180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32718" y="6356351"/>
            <a:ext cx="41201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204BE-4472-4DD5-8A6B-6C9D4C8906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01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898F5F4-EAA8-18E7-6353-6BD21DA67D13}"/>
              </a:ext>
            </a:extLst>
          </p:cNvPr>
          <p:cNvSpPr/>
          <p:nvPr/>
        </p:nvSpPr>
        <p:spPr>
          <a:xfrm>
            <a:off x="5803105" y="1631945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FAF3DD"/>
          </a:solidFill>
          <a:ln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5DD94C34-136F-804A-50DC-4062A4A9BDD1}"/>
              </a:ext>
            </a:extLst>
          </p:cNvPr>
          <p:cNvSpPr/>
          <p:nvPr/>
        </p:nvSpPr>
        <p:spPr>
          <a:xfrm>
            <a:off x="8699407" y="1626038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B5D9D6"/>
          </a:solidFill>
          <a:ln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SFT</a:t>
            </a:r>
            <a:b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AFE1B83D-517B-4581-69DF-B8460A52A238}"/>
              </a:ext>
            </a:extLst>
          </p:cNvPr>
          <p:cNvSpPr/>
          <p:nvPr/>
        </p:nvSpPr>
        <p:spPr>
          <a:xfrm>
            <a:off x="5803105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FAF3DD"/>
          </a:solidFill>
          <a:ln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6412599-2C5F-9B74-2642-65F2439A1DE2}"/>
              </a:ext>
            </a:extLst>
          </p:cNvPr>
          <p:cNvSpPr/>
          <p:nvPr/>
        </p:nvSpPr>
        <p:spPr>
          <a:xfrm>
            <a:off x="8699407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B5D9D6">
              <a:alpha val="38039"/>
            </a:srgbClr>
          </a:solidFill>
          <a:ln>
            <a:solidFill>
              <a:srgbClr val="000000">
                <a:alpha val="50196"/>
              </a:srgbClr>
            </a:solidFill>
            <a:prstDash val="sysDash"/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CoT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4E18928-0C04-E67B-DFE5-7846976D3E6F}"/>
              </a:ext>
            </a:extLst>
          </p:cNvPr>
          <p:cNvSpPr/>
          <p:nvPr/>
        </p:nvSpPr>
        <p:spPr>
          <a:xfrm>
            <a:off x="11563893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8FC0A9"/>
          </a:solidFill>
          <a:ln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995E7EC-63A6-B7F2-3FC9-8D9366AEFFB7}"/>
              </a:ext>
            </a:extLst>
          </p:cNvPr>
          <p:cNvSpPr/>
          <p:nvPr/>
        </p:nvSpPr>
        <p:spPr>
          <a:xfrm>
            <a:off x="5803105" y="373206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FAF3DD"/>
          </a:solidFill>
          <a:ln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41389A9-F3B7-39CF-11B3-A9E403AEABAB}"/>
              </a:ext>
            </a:extLst>
          </p:cNvPr>
          <p:cNvSpPr/>
          <p:nvPr/>
        </p:nvSpPr>
        <p:spPr>
          <a:xfrm>
            <a:off x="5803105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FAF3DD"/>
          </a:solidFill>
          <a:ln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BA515B03-7354-2E68-0EB2-1FC02582B599}"/>
              </a:ext>
            </a:extLst>
          </p:cNvPr>
          <p:cNvSpPr/>
          <p:nvPr/>
        </p:nvSpPr>
        <p:spPr>
          <a:xfrm>
            <a:off x="8699407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C8D5B9"/>
          </a:solidFill>
          <a:ln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Baseline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EFA0962-C938-3D5C-9FB1-E894CFCED0D3}"/>
              </a:ext>
            </a:extLst>
          </p:cNvPr>
          <p:cNvSpPr/>
          <p:nvPr/>
        </p:nvSpPr>
        <p:spPr>
          <a:xfrm>
            <a:off x="5803105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FAF3DD"/>
          </a:solidFill>
          <a:ln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1AB09484-B3B8-826E-1903-D1038B97A523}"/>
              </a:ext>
            </a:extLst>
          </p:cNvPr>
          <p:cNvSpPr/>
          <p:nvPr/>
        </p:nvSpPr>
        <p:spPr>
          <a:xfrm>
            <a:off x="8699407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B5D9D6"/>
          </a:solidFill>
          <a:ln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  <a:endParaRPr lang="en-US" altLang="zh-CN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36DAFD68-587C-2909-904A-D34475E1CB79}"/>
              </a:ext>
            </a:extLst>
          </p:cNvPr>
          <p:cNvSpPr/>
          <p:nvPr/>
        </p:nvSpPr>
        <p:spPr>
          <a:xfrm>
            <a:off x="11563893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8FC0A9"/>
          </a:solidFill>
          <a:ln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DEC7D25-0C36-77A2-A796-5A3718EB0CC9}"/>
              </a:ext>
            </a:extLst>
          </p:cNvPr>
          <p:cNvSpPr txBox="1"/>
          <p:nvPr/>
        </p:nvSpPr>
        <p:spPr>
          <a:xfrm>
            <a:off x="4324664" y="620204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E2C8ADA-26E1-F09B-BCAB-709964FCAA4E}"/>
              </a:ext>
            </a:extLst>
          </p:cNvPr>
          <p:cNvSpPr txBox="1"/>
          <p:nvPr/>
        </p:nvSpPr>
        <p:spPr>
          <a:xfrm>
            <a:off x="4242270" y="1880238"/>
            <a:ext cx="1533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SFT-Only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5AE9CB8-EA4D-FED0-7B7E-92EA7B4C39B3}"/>
              </a:ext>
            </a:extLst>
          </p:cNvPr>
          <p:cNvSpPr txBox="1"/>
          <p:nvPr/>
        </p:nvSpPr>
        <p:spPr>
          <a:xfrm>
            <a:off x="3899868" y="3140272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GRPO-Only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A604AFA-47C3-5080-712E-CD13F71BBD5A}"/>
              </a:ext>
            </a:extLst>
          </p:cNvPr>
          <p:cNvSpPr txBox="1"/>
          <p:nvPr/>
        </p:nvSpPr>
        <p:spPr>
          <a:xfrm>
            <a:off x="3925516" y="4400306"/>
            <a:ext cx="185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SFT+GRPO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1B83378-43A4-46BA-A416-3C0822BF4B4F}"/>
              </a:ext>
            </a:extLst>
          </p:cNvPr>
          <p:cNvSpPr txBox="1"/>
          <p:nvPr/>
        </p:nvSpPr>
        <p:spPr>
          <a:xfrm>
            <a:off x="2889334" y="5660342"/>
            <a:ext cx="2886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GRPO(SFT-Based)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091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F6065-CCB4-E0F0-71E2-6C32AAC9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BDA74D4-BD4D-FD9C-1ACA-CCAE0949C079}"/>
              </a:ext>
            </a:extLst>
          </p:cNvPr>
          <p:cNvSpPr/>
          <p:nvPr/>
        </p:nvSpPr>
        <p:spPr>
          <a:xfrm>
            <a:off x="5803105" y="1631945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483E8A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4693E1EE-AA49-28F1-C4BD-A81898331F9B}"/>
              </a:ext>
            </a:extLst>
          </p:cNvPr>
          <p:cNvSpPr/>
          <p:nvPr/>
        </p:nvSpPr>
        <p:spPr>
          <a:xfrm>
            <a:off x="8699407" y="1626038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494554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SFT</a:t>
            </a:r>
            <a:b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587D6F1D-2E4D-EE7D-EC35-E0376CC24D4A}"/>
              </a:ext>
            </a:extLst>
          </p:cNvPr>
          <p:cNvSpPr/>
          <p:nvPr/>
        </p:nvSpPr>
        <p:spPr>
          <a:xfrm>
            <a:off x="5803105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483E8A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A8B66E18-D73C-7A80-1FAE-CDF8C8A9EB69}"/>
              </a:ext>
            </a:extLst>
          </p:cNvPr>
          <p:cNvSpPr/>
          <p:nvPr/>
        </p:nvSpPr>
        <p:spPr>
          <a:xfrm>
            <a:off x="8699407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B5D9D6">
              <a:alpha val="38039"/>
            </a:srgbClr>
          </a:solidFill>
          <a:ln>
            <a:solidFill>
              <a:schemeClr val="bg1"/>
            </a:solidFill>
            <a:prstDash val="sysDash"/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CoT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5A9F408-1A57-2D76-791C-64618A7F48E4}"/>
              </a:ext>
            </a:extLst>
          </p:cNvPr>
          <p:cNvSpPr/>
          <p:nvPr/>
        </p:nvSpPr>
        <p:spPr>
          <a:xfrm>
            <a:off x="11563893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8FC0A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C151E87-1E1C-A116-5ED6-55D721552EB0}"/>
              </a:ext>
            </a:extLst>
          </p:cNvPr>
          <p:cNvSpPr/>
          <p:nvPr/>
        </p:nvSpPr>
        <p:spPr>
          <a:xfrm>
            <a:off x="5803105" y="373206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483E8A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8734D307-A166-5774-5EB6-D3201B5AF563}"/>
              </a:ext>
            </a:extLst>
          </p:cNvPr>
          <p:cNvSpPr/>
          <p:nvPr/>
        </p:nvSpPr>
        <p:spPr>
          <a:xfrm>
            <a:off x="5803105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483E8A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DD79E3BC-B966-CF73-065D-643933DA06C6}"/>
              </a:ext>
            </a:extLst>
          </p:cNvPr>
          <p:cNvSpPr/>
          <p:nvPr/>
        </p:nvSpPr>
        <p:spPr>
          <a:xfrm>
            <a:off x="8699407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C8D5B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Baseline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FED7F4EA-5204-0413-882A-4AAEC651BFFB}"/>
              </a:ext>
            </a:extLst>
          </p:cNvPr>
          <p:cNvSpPr/>
          <p:nvPr/>
        </p:nvSpPr>
        <p:spPr>
          <a:xfrm>
            <a:off x="5803105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483E8A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288B4B50-5B65-6793-500F-691DECB5EFA0}"/>
              </a:ext>
            </a:extLst>
          </p:cNvPr>
          <p:cNvSpPr/>
          <p:nvPr/>
        </p:nvSpPr>
        <p:spPr>
          <a:xfrm>
            <a:off x="8699407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494554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DFC2BCF0-DF32-75AA-EBBD-1D83BD752877}"/>
              </a:ext>
            </a:extLst>
          </p:cNvPr>
          <p:cNvSpPr/>
          <p:nvPr/>
        </p:nvSpPr>
        <p:spPr>
          <a:xfrm>
            <a:off x="11563893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8FC0A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3A3EB6-1E36-2FEF-04F5-78E38CAEC08C}"/>
              </a:ext>
            </a:extLst>
          </p:cNvPr>
          <p:cNvSpPr txBox="1"/>
          <p:nvPr/>
        </p:nvSpPr>
        <p:spPr>
          <a:xfrm>
            <a:off x="4324664" y="620204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710F90C-5519-BFD6-581A-F264D7070E8E}"/>
              </a:ext>
            </a:extLst>
          </p:cNvPr>
          <p:cNvSpPr txBox="1"/>
          <p:nvPr/>
        </p:nvSpPr>
        <p:spPr>
          <a:xfrm>
            <a:off x="4242270" y="1880238"/>
            <a:ext cx="1533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SFT-Only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FB40538-6A0A-9DCA-80D5-057412671413}"/>
              </a:ext>
            </a:extLst>
          </p:cNvPr>
          <p:cNvSpPr txBox="1"/>
          <p:nvPr/>
        </p:nvSpPr>
        <p:spPr>
          <a:xfrm>
            <a:off x="3899868" y="3140272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GRPO-Only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65E1606-389D-EB2D-12D5-062779A4F3CE}"/>
              </a:ext>
            </a:extLst>
          </p:cNvPr>
          <p:cNvSpPr txBox="1"/>
          <p:nvPr/>
        </p:nvSpPr>
        <p:spPr>
          <a:xfrm>
            <a:off x="3925516" y="4400306"/>
            <a:ext cx="185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SFT+GRPO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C65CF9C-819F-D83F-604A-5B56F5304848}"/>
              </a:ext>
            </a:extLst>
          </p:cNvPr>
          <p:cNvSpPr txBox="1"/>
          <p:nvPr/>
        </p:nvSpPr>
        <p:spPr>
          <a:xfrm>
            <a:off x="2889334" y="5660342"/>
            <a:ext cx="2886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GRPO(SFT-Based)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431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0A337-35A8-E483-EBF7-242B503E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AC05CB2-BF39-6F2B-E9DD-8AA54F385689}"/>
              </a:ext>
            </a:extLst>
          </p:cNvPr>
          <p:cNvSpPr/>
          <p:nvPr/>
        </p:nvSpPr>
        <p:spPr>
          <a:xfrm>
            <a:off x="5803105" y="1631945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483E8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3E2F9CE7-310A-2355-AE23-22E5D0018EE6}"/>
              </a:ext>
            </a:extLst>
          </p:cNvPr>
          <p:cNvSpPr/>
          <p:nvPr/>
        </p:nvSpPr>
        <p:spPr>
          <a:xfrm>
            <a:off x="8699407" y="1626038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C68D8322-0315-8F57-316A-D44930A6AFDA}"/>
              </a:ext>
            </a:extLst>
          </p:cNvPr>
          <p:cNvSpPr/>
          <p:nvPr/>
        </p:nvSpPr>
        <p:spPr>
          <a:xfrm>
            <a:off x="5803105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483E8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D9CDDE46-1319-020A-7635-64A6B4A69AFD}"/>
              </a:ext>
            </a:extLst>
          </p:cNvPr>
          <p:cNvSpPr/>
          <p:nvPr/>
        </p:nvSpPr>
        <p:spPr>
          <a:xfrm>
            <a:off x="8699407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prstDash val="sysDash"/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11627C3E-51D8-9985-9A24-064A23AAFC5D}"/>
              </a:ext>
            </a:extLst>
          </p:cNvPr>
          <p:cNvSpPr/>
          <p:nvPr/>
        </p:nvSpPr>
        <p:spPr>
          <a:xfrm>
            <a:off x="11563893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D0ACA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3FAFA8EF-C5A2-8987-32B1-B72D9FAB7CA2}"/>
              </a:ext>
            </a:extLst>
          </p:cNvPr>
          <p:cNvSpPr/>
          <p:nvPr/>
        </p:nvSpPr>
        <p:spPr>
          <a:xfrm>
            <a:off x="5803105" y="373206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483E8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08ADC42-A046-107B-7910-16F04AE4EFD7}"/>
              </a:ext>
            </a:extLst>
          </p:cNvPr>
          <p:cNvSpPr/>
          <p:nvPr/>
        </p:nvSpPr>
        <p:spPr>
          <a:xfrm>
            <a:off x="5803105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483E8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093D97EB-4FC9-510F-95A3-E84CCB0F49DC}"/>
              </a:ext>
            </a:extLst>
          </p:cNvPr>
          <p:cNvSpPr/>
          <p:nvPr/>
        </p:nvSpPr>
        <p:spPr>
          <a:xfrm>
            <a:off x="8699407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C8D5B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Baseline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63F43D7B-7260-B303-5717-05F38A1C67DC}"/>
              </a:ext>
            </a:extLst>
          </p:cNvPr>
          <p:cNvSpPr/>
          <p:nvPr/>
        </p:nvSpPr>
        <p:spPr>
          <a:xfrm>
            <a:off x="5803105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483E8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6AA26921-F22D-2A77-51E9-743D4F2398FD}"/>
              </a:ext>
            </a:extLst>
          </p:cNvPr>
          <p:cNvSpPr/>
          <p:nvPr/>
        </p:nvSpPr>
        <p:spPr>
          <a:xfrm>
            <a:off x="8699407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483E8A">
                    <a:alpha val="43000"/>
                  </a:srgbClr>
                </a:outerShdw>
              </a:effectLst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646FC35C-ED5D-BC70-4F8C-F46BCACE2384}"/>
              </a:ext>
            </a:extLst>
          </p:cNvPr>
          <p:cNvSpPr/>
          <p:nvPr/>
        </p:nvSpPr>
        <p:spPr>
          <a:xfrm>
            <a:off x="11563893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D0ACA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E9E0EB5-7701-2356-4494-BA27DD177A8E}"/>
              </a:ext>
            </a:extLst>
          </p:cNvPr>
          <p:cNvSpPr txBox="1"/>
          <p:nvPr/>
        </p:nvSpPr>
        <p:spPr>
          <a:xfrm>
            <a:off x="4324664" y="620204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11E76E7-5BCC-5101-97CC-371274B2774B}"/>
              </a:ext>
            </a:extLst>
          </p:cNvPr>
          <p:cNvSpPr txBox="1"/>
          <p:nvPr/>
        </p:nvSpPr>
        <p:spPr>
          <a:xfrm>
            <a:off x="4242270" y="1880238"/>
            <a:ext cx="1533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SFT-Only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506EFCB-D10F-E128-B3D4-35AD772AEC6F}"/>
              </a:ext>
            </a:extLst>
          </p:cNvPr>
          <p:cNvSpPr txBox="1"/>
          <p:nvPr/>
        </p:nvSpPr>
        <p:spPr>
          <a:xfrm>
            <a:off x="3899868" y="3140272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GRPO-Only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8110E97-4AC1-26B4-4ECE-D2F1EAB84CB0}"/>
              </a:ext>
            </a:extLst>
          </p:cNvPr>
          <p:cNvSpPr txBox="1"/>
          <p:nvPr/>
        </p:nvSpPr>
        <p:spPr>
          <a:xfrm>
            <a:off x="3925516" y="4400306"/>
            <a:ext cx="185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SFT+GRPO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F6F4570-4866-7AE4-6B76-5E9BD64C10F7}"/>
              </a:ext>
            </a:extLst>
          </p:cNvPr>
          <p:cNvSpPr txBox="1"/>
          <p:nvPr/>
        </p:nvSpPr>
        <p:spPr>
          <a:xfrm>
            <a:off x="2889334" y="5660342"/>
            <a:ext cx="2886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GRPO(SFT-Based)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521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31971-12E7-451F-5ABA-18DA8A90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D7B305CD-F7C1-B9E8-8C50-D72B0780EED3}"/>
              </a:ext>
            </a:extLst>
          </p:cNvPr>
          <p:cNvSpPr/>
          <p:nvPr/>
        </p:nvSpPr>
        <p:spPr>
          <a:xfrm>
            <a:off x="5803105" y="1631945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ACA7CB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ACA7CB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ACA7CB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718153FB-9ACC-4975-15B0-CFD8EC72DD79}"/>
              </a:ext>
            </a:extLst>
          </p:cNvPr>
          <p:cNvSpPr/>
          <p:nvPr/>
        </p:nvSpPr>
        <p:spPr>
          <a:xfrm>
            <a:off x="8699407" y="1626038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1FD21664-F4F5-6122-089E-5A01D9D9CF73}"/>
              </a:ext>
            </a:extLst>
          </p:cNvPr>
          <p:cNvSpPr/>
          <p:nvPr/>
        </p:nvSpPr>
        <p:spPr>
          <a:xfrm>
            <a:off x="5803105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ACA7CB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ACA7CB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ACA7CB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CBC6CE6-AEC8-DA5C-135F-8153038E45FE}"/>
              </a:ext>
            </a:extLst>
          </p:cNvPr>
          <p:cNvSpPr/>
          <p:nvPr/>
        </p:nvSpPr>
        <p:spPr>
          <a:xfrm>
            <a:off x="8699407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prstDash val="sysDash"/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4C60CF27-62B3-1411-974D-9BBC170989F6}"/>
              </a:ext>
            </a:extLst>
          </p:cNvPr>
          <p:cNvSpPr/>
          <p:nvPr/>
        </p:nvSpPr>
        <p:spPr>
          <a:xfrm>
            <a:off x="11563893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D0ACA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16D7B5F-266F-C1B9-5F88-DADAB10CC3FA}"/>
              </a:ext>
            </a:extLst>
          </p:cNvPr>
          <p:cNvSpPr/>
          <p:nvPr/>
        </p:nvSpPr>
        <p:spPr>
          <a:xfrm>
            <a:off x="5803105" y="373206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ACA7CB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ACA7CB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ACA7CB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F07ADBCE-56B9-8606-1113-7FEFDA602083}"/>
              </a:ext>
            </a:extLst>
          </p:cNvPr>
          <p:cNvSpPr/>
          <p:nvPr/>
        </p:nvSpPr>
        <p:spPr>
          <a:xfrm>
            <a:off x="5803105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ACA7CB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ACA7CB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ACA7CB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85D1E969-FB5B-BB2B-C0D6-EF1F3FC2FB20}"/>
              </a:ext>
            </a:extLst>
          </p:cNvPr>
          <p:cNvSpPr/>
          <p:nvPr/>
        </p:nvSpPr>
        <p:spPr>
          <a:xfrm>
            <a:off x="8699407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C8D5B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Baseline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0A99B70-2138-032C-4F83-88D270FDFE7F}"/>
              </a:ext>
            </a:extLst>
          </p:cNvPr>
          <p:cNvSpPr/>
          <p:nvPr/>
        </p:nvSpPr>
        <p:spPr>
          <a:xfrm>
            <a:off x="5803105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ACA7CB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ACA7CB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ACA7CB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C37CC1C-D020-FCE9-585F-95E2D5DE21DF}"/>
              </a:ext>
            </a:extLst>
          </p:cNvPr>
          <p:cNvSpPr/>
          <p:nvPr/>
        </p:nvSpPr>
        <p:spPr>
          <a:xfrm>
            <a:off x="8699407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483E8A">
                    <a:alpha val="43000"/>
                  </a:srgbClr>
                </a:outerShdw>
              </a:effectLst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0DC77518-5642-EAD5-3132-52C7E244E991}"/>
              </a:ext>
            </a:extLst>
          </p:cNvPr>
          <p:cNvSpPr/>
          <p:nvPr/>
        </p:nvSpPr>
        <p:spPr>
          <a:xfrm>
            <a:off x="11563893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D0ACA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483E8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37EFA18-390E-C168-CF17-652190B8B265}"/>
              </a:ext>
            </a:extLst>
          </p:cNvPr>
          <p:cNvSpPr txBox="1"/>
          <p:nvPr/>
        </p:nvSpPr>
        <p:spPr>
          <a:xfrm>
            <a:off x="4324664" y="620204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F0781DB-833E-3F8B-010E-4DA731595396}"/>
              </a:ext>
            </a:extLst>
          </p:cNvPr>
          <p:cNvSpPr txBox="1"/>
          <p:nvPr/>
        </p:nvSpPr>
        <p:spPr>
          <a:xfrm>
            <a:off x="4242270" y="1880238"/>
            <a:ext cx="1533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SFT-Only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98D86B0-D718-666C-DA6F-5A3FDCF59B2D}"/>
              </a:ext>
            </a:extLst>
          </p:cNvPr>
          <p:cNvSpPr txBox="1"/>
          <p:nvPr/>
        </p:nvSpPr>
        <p:spPr>
          <a:xfrm>
            <a:off x="3899868" y="3140272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GRPO-Only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A2F1032-0BF5-CB40-F4BF-563A132DB6CF}"/>
              </a:ext>
            </a:extLst>
          </p:cNvPr>
          <p:cNvSpPr txBox="1"/>
          <p:nvPr/>
        </p:nvSpPr>
        <p:spPr>
          <a:xfrm>
            <a:off x="3925516" y="4400306"/>
            <a:ext cx="185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SFT+GRPO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66681FE-18A6-64CA-3991-E1398D342C19}"/>
              </a:ext>
            </a:extLst>
          </p:cNvPr>
          <p:cNvSpPr txBox="1"/>
          <p:nvPr/>
        </p:nvSpPr>
        <p:spPr>
          <a:xfrm>
            <a:off x="2889334" y="5660342"/>
            <a:ext cx="2886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GRPO(SFT-Based)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27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A7A1-2DB2-2165-A3EE-5C1C0101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0821315-E8EA-89B2-6FC7-8CA560589D56}"/>
              </a:ext>
            </a:extLst>
          </p:cNvPr>
          <p:cNvSpPr/>
          <p:nvPr/>
        </p:nvSpPr>
        <p:spPr>
          <a:xfrm>
            <a:off x="5803105" y="1631945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95AB31B-92DD-84EC-60CA-E511A10F3727}"/>
              </a:ext>
            </a:extLst>
          </p:cNvPr>
          <p:cNvSpPr/>
          <p:nvPr/>
        </p:nvSpPr>
        <p:spPr>
          <a:xfrm>
            <a:off x="8699407" y="1626038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3B47633B-5DB5-EC13-1DA5-1D1A7BA46FEB}"/>
              </a:ext>
            </a:extLst>
          </p:cNvPr>
          <p:cNvSpPr/>
          <p:nvPr/>
        </p:nvSpPr>
        <p:spPr>
          <a:xfrm>
            <a:off x="5803105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DD09BCEC-077F-B6E7-0D7B-69FB85A38CAB}"/>
              </a:ext>
            </a:extLst>
          </p:cNvPr>
          <p:cNvSpPr/>
          <p:nvPr/>
        </p:nvSpPr>
        <p:spPr>
          <a:xfrm>
            <a:off x="8699407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prstDash val="sysDash"/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0D8FCC97-D208-9251-19E5-6AE8DC333419}"/>
              </a:ext>
            </a:extLst>
          </p:cNvPr>
          <p:cNvSpPr/>
          <p:nvPr/>
        </p:nvSpPr>
        <p:spPr>
          <a:xfrm>
            <a:off x="11563893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D0ACA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3CFB0A53-B861-2C62-8CCF-B2D7182097E7}"/>
              </a:ext>
            </a:extLst>
          </p:cNvPr>
          <p:cNvSpPr/>
          <p:nvPr/>
        </p:nvSpPr>
        <p:spPr>
          <a:xfrm>
            <a:off x="5803105" y="373206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B00A9E42-437F-0588-2CD0-95F8FB094A5E}"/>
              </a:ext>
            </a:extLst>
          </p:cNvPr>
          <p:cNvSpPr/>
          <p:nvPr/>
        </p:nvSpPr>
        <p:spPr>
          <a:xfrm>
            <a:off x="5803105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8493F28D-09EA-1C78-C5D3-982EDD1EF607}"/>
              </a:ext>
            </a:extLst>
          </p:cNvPr>
          <p:cNvSpPr/>
          <p:nvPr/>
        </p:nvSpPr>
        <p:spPr>
          <a:xfrm>
            <a:off x="8699407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C8D5B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Baseline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C482B9EE-59CC-38EF-4CBD-56142F2654FA}"/>
              </a:ext>
            </a:extLst>
          </p:cNvPr>
          <p:cNvSpPr/>
          <p:nvPr/>
        </p:nvSpPr>
        <p:spPr>
          <a:xfrm>
            <a:off x="5803105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ACA7C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70BFCA4-650B-F219-BED4-8801AC61B3E1}"/>
              </a:ext>
            </a:extLst>
          </p:cNvPr>
          <p:cNvSpPr/>
          <p:nvPr/>
        </p:nvSpPr>
        <p:spPr>
          <a:xfrm>
            <a:off x="8699407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4636EEB8-45FD-F625-79FA-AF5BF7545002}"/>
              </a:ext>
            </a:extLst>
          </p:cNvPr>
          <p:cNvSpPr/>
          <p:nvPr/>
        </p:nvSpPr>
        <p:spPr>
          <a:xfrm>
            <a:off x="11563893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D0ACA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65B600D-F8BC-065E-1D56-F53A6DB0443B}"/>
              </a:ext>
            </a:extLst>
          </p:cNvPr>
          <p:cNvSpPr txBox="1"/>
          <p:nvPr/>
        </p:nvSpPr>
        <p:spPr>
          <a:xfrm>
            <a:off x="4324664" y="620204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C0BAA59-CB4E-9110-9401-03B87070C166}"/>
              </a:ext>
            </a:extLst>
          </p:cNvPr>
          <p:cNvSpPr txBox="1"/>
          <p:nvPr/>
        </p:nvSpPr>
        <p:spPr>
          <a:xfrm>
            <a:off x="4242270" y="1880238"/>
            <a:ext cx="1533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SFT-Only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396C652-9AF0-623D-4CFB-3A8B54050B48}"/>
              </a:ext>
            </a:extLst>
          </p:cNvPr>
          <p:cNvSpPr txBox="1"/>
          <p:nvPr/>
        </p:nvSpPr>
        <p:spPr>
          <a:xfrm>
            <a:off x="3899868" y="3140272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GRPO-Only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757B2A7-D0C0-359C-64FF-D5E74DBA5A87}"/>
              </a:ext>
            </a:extLst>
          </p:cNvPr>
          <p:cNvSpPr txBox="1"/>
          <p:nvPr/>
        </p:nvSpPr>
        <p:spPr>
          <a:xfrm>
            <a:off x="3925516" y="4400306"/>
            <a:ext cx="185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SFT+GRPO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3BFEC8F-6F2A-66AF-75BE-D5651A6ADEB0}"/>
              </a:ext>
            </a:extLst>
          </p:cNvPr>
          <p:cNvSpPr txBox="1"/>
          <p:nvPr/>
        </p:nvSpPr>
        <p:spPr>
          <a:xfrm>
            <a:off x="2889334" y="5660342"/>
            <a:ext cx="2886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GRPO(SFT-Based)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172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608E8-A8C6-592B-4171-AA2B4E21C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7736866-2D68-0247-76C4-11697F0C2498}"/>
              </a:ext>
            </a:extLst>
          </p:cNvPr>
          <p:cNvGrpSpPr/>
          <p:nvPr/>
        </p:nvGrpSpPr>
        <p:grpSpPr>
          <a:xfrm>
            <a:off x="1838800" y="203200"/>
            <a:ext cx="14416840" cy="6531069"/>
            <a:chOff x="1838800" y="203200"/>
            <a:chExt cx="14416840" cy="653106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75274EC-CEEC-BC43-B0A3-0FC713E84380}"/>
                </a:ext>
              </a:extLst>
            </p:cNvPr>
            <p:cNvSpPr/>
            <p:nvPr/>
          </p:nvSpPr>
          <p:spPr>
            <a:xfrm>
              <a:off x="2061390" y="203200"/>
              <a:ext cx="14194250" cy="6531069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9C5E91EC-2DCC-8FC2-6A66-0A130844A17A}"/>
                </a:ext>
              </a:extLst>
            </p:cNvPr>
            <p:cNvSpPr/>
            <p:nvPr/>
          </p:nvSpPr>
          <p:spPr>
            <a:xfrm>
              <a:off x="5803105" y="1631945"/>
              <a:ext cx="3629706" cy="928822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0 w 3123406"/>
                <a:gd name="connsiteY5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7CB"/>
            </a:solidFill>
            <a:ln>
              <a:solidFill>
                <a:schemeClr val="bg1"/>
              </a:solidFill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7348" tIns="58674" rIns="341677" bIns="58674" numCol="1" spcCol="1270" anchor="ctr" anchorCtr="0">
              <a:noAutofit/>
            </a:bodyPr>
            <a:lstStyle/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Baseline</a:t>
              </a:r>
            </a:p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Qwen2.5-Coder-1.5B</a:t>
              </a:r>
              <a:endParaRPr lang="zh-CN" altLang="en-US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FCBE9CBF-F37F-7E1F-1CB6-7633571073E0}"/>
                </a:ext>
              </a:extLst>
            </p:cNvPr>
            <p:cNvSpPr/>
            <p:nvPr/>
          </p:nvSpPr>
          <p:spPr>
            <a:xfrm>
              <a:off x="8699407" y="1626038"/>
              <a:ext cx="3629706" cy="928822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624681 w 3123406"/>
                <a:gd name="connsiteY5" fmla="*/ 624681 h 1249362"/>
                <a:gd name="connsiteX6" fmla="*/ 0 w 3123406"/>
                <a:gd name="connsiteY6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624681" y="624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BF7"/>
            </a:solidFill>
            <a:ln>
              <a:solidFill>
                <a:schemeClr val="bg1"/>
              </a:solidFill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820706" tIns="130683" rIns="690023" bIns="130683" numCol="1" spcCol="1270" anchor="ctr" anchorCtr="0">
              <a:noAutofit/>
            </a:bodyPr>
            <a:lstStyle/>
            <a:p>
              <a:pPr algn="ctr"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SFT</a:t>
              </a:r>
              <a:br>
                <a:rPr lang="en-US" altLang="zh-CN" sz="22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b="1" dirty="0" err="1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CoT</a:t>
              </a:r>
              <a:r>
                <a:rPr lang="en-US" altLang="zh-CN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Fine-tuning</a:t>
              </a: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61A8BF82-8A4F-C213-2314-B2B0A5833AA5}"/>
                </a:ext>
              </a:extLst>
            </p:cNvPr>
            <p:cNvSpPr/>
            <p:nvPr/>
          </p:nvSpPr>
          <p:spPr>
            <a:xfrm>
              <a:off x="5803105" y="5416319"/>
              <a:ext cx="3629706" cy="928822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0 w 3123406"/>
                <a:gd name="connsiteY5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7CB"/>
            </a:solidFill>
            <a:ln>
              <a:solidFill>
                <a:schemeClr val="bg1"/>
              </a:solidFill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7348" tIns="58674" rIns="341677" bIns="58674" numCol="1" spcCol="1270" anchor="ctr" anchorCtr="0">
              <a:noAutofit/>
            </a:bodyPr>
            <a:lstStyle/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Baseline</a:t>
              </a:r>
            </a:p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Qwen2.5-Coder-1.5B</a:t>
              </a:r>
              <a:endParaRPr lang="zh-CN" altLang="en-US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E6C227BA-6CCB-7525-021F-7872CCFC5C0D}"/>
                </a:ext>
              </a:extLst>
            </p:cNvPr>
            <p:cNvSpPr/>
            <p:nvPr/>
          </p:nvSpPr>
          <p:spPr>
            <a:xfrm>
              <a:off x="8760367" y="5424263"/>
              <a:ext cx="3507833" cy="920877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624681 w 3123406"/>
                <a:gd name="connsiteY5" fmla="*/ 624681 h 1249362"/>
                <a:gd name="connsiteX6" fmla="*/ 0 w 3123406"/>
                <a:gd name="connsiteY6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624681" y="624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BF7">
                <a:alpha val="0"/>
              </a:srgbClr>
            </a:solidFill>
            <a:ln w="57150">
              <a:solidFill>
                <a:srgbClr val="B5B3BF"/>
              </a:solidFill>
              <a:prstDash val="sysDash"/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820706" tIns="130683" rIns="690023" bIns="130683" numCol="1" spcCol="1270" anchor="ctr" anchorCtr="0">
              <a:noAutofit/>
            </a:bodyPr>
            <a:lstStyle/>
            <a:p>
              <a:pPr algn="ctr"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2200" b="1" dirty="0">
                  <a:solidFill>
                    <a:srgbClr val="483E8A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SFT</a:t>
              </a:r>
              <a:br>
                <a:rPr lang="en-US" altLang="zh-CN" sz="2200" b="1" dirty="0">
                  <a:solidFill>
                    <a:srgbClr val="483E8A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</a:br>
              <a:r>
                <a:rPr lang="en-US" altLang="zh-CN" b="1" dirty="0" err="1">
                  <a:solidFill>
                    <a:srgbClr val="483E8A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CoT</a:t>
              </a:r>
              <a:r>
                <a:rPr lang="en-US" altLang="zh-CN" b="1" dirty="0">
                  <a:solidFill>
                    <a:srgbClr val="483E8A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Fine-tuning</a:t>
              </a: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66DA48B1-E5AE-B08E-606B-DE96A4FEAC8B}"/>
                </a:ext>
              </a:extLst>
            </p:cNvPr>
            <p:cNvSpPr/>
            <p:nvPr/>
          </p:nvSpPr>
          <p:spPr>
            <a:xfrm>
              <a:off x="11563893" y="5416319"/>
              <a:ext cx="3629706" cy="928822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624681 w 3123406"/>
                <a:gd name="connsiteY5" fmla="*/ 624681 h 1249362"/>
                <a:gd name="connsiteX6" fmla="*/ 0 w 3123406"/>
                <a:gd name="connsiteY6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624681" y="624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ACA9"/>
            </a:solidFill>
            <a:ln>
              <a:solidFill>
                <a:schemeClr val="bg1"/>
              </a:solidFill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820706" tIns="130683" rIns="690023" bIns="130683" numCol="1" spcCol="1270" anchor="ctr" anchorCtr="0">
              <a:noAutofit/>
            </a:bodyPr>
            <a:lstStyle/>
            <a:p>
              <a:pPr algn="ctr"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2200" b="1" dirty="0">
                  <a:solidFill>
                    <a:srgbClr val="47464F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GRPO</a:t>
              </a:r>
              <a:br>
                <a:rPr lang="en-US" altLang="zh-CN" sz="2200" b="1" dirty="0">
                  <a:solidFill>
                    <a:srgbClr val="47464F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</a:br>
              <a:r>
                <a:rPr lang="en-US" altLang="zh-CN" b="1" dirty="0">
                  <a:solidFill>
                    <a:srgbClr val="47464F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Trained on SFT-Based</a:t>
              </a:r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D89B18F-0B4A-1E3E-07F3-8DD832B1F228}"/>
                </a:ext>
              </a:extLst>
            </p:cNvPr>
            <p:cNvSpPr/>
            <p:nvPr/>
          </p:nvSpPr>
          <p:spPr>
            <a:xfrm>
              <a:off x="5803105" y="373206"/>
              <a:ext cx="3629706" cy="928822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0 w 3123406"/>
                <a:gd name="connsiteY5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7CB"/>
            </a:solidFill>
            <a:ln>
              <a:solidFill>
                <a:schemeClr val="bg1"/>
              </a:solidFill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7348" tIns="58674" rIns="341677" bIns="58674" numCol="1" spcCol="1270" anchor="ctr" anchorCtr="0">
              <a:noAutofit/>
            </a:bodyPr>
            <a:lstStyle/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Baseline</a:t>
              </a:r>
            </a:p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Qwen2.5-Coder-1.5B</a:t>
              </a:r>
              <a:endParaRPr lang="zh-CN" altLang="en-US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25B0401-C556-70A9-8E69-9490DAE159EF}"/>
                </a:ext>
              </a:extLst>
            </p:cNvPr>
            <p:cNvSpPr/>
            <p:nvPr/>
          </p:nvSpPr>
          <p:spPr>
            <a:xfrm>
              <a:off x="5803105" y="2894762"/>
              <a:ext cx="3629706" cy="928822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0 w 3123406"/>
                <a:gd name="connsiteY5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7CB"/>
            </a:solidFill>
            <a:ln>
              <a:solidFill>
                <a:schemeClr val="bg1"/>
              </a:solidFill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7348" tIns="58674" rIns="341677" bIns="58674" numCol="1" spcCol="1270" anchor="ctr" anchorCtr="0">
              <a:noAutofit/>
            </a:bodyPr>
            <a:lstStyle/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Baseline</a:t>
              </a:r>
            </a:p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Qwen2.5-Coder-1.5B</a:t>
              </a:r>
              <a:endParaRPr lang="zh-CN" altLang="en-US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C5FD97A5-2057-4ED9-22D8-FE4986ED6C43}"/>
                </a:ext>
              </a:extLst>
            </p:cNvPr>
            <p:cNvSpPr/>
            <p:nvPr/>
          </p:nvSpPr>
          <p:spPr>
            <a:xfrm>
              <a:off x="8699407" y="2894762"/>
              <a:ext cx="3629706" cy="928822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624681 w 3123406"/>
                <a:gd name="connsiteY5" fmla="*/ 624681 h 1249362"/>
                <a:gd name="connsiteX6" fmla="*/ 0 w 3123406"/>
                <a:gd name="connsiteY6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624681" y="624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/>
              </a:solidFill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820706" tIns="130683" rIns="690023" bIns="130683" numCol="1" spcCol="1270" anchor="ctr" anchorCtr="0">
              <a:noAutofit/>
            </a:bodyPr>
            <a:lstStyle/>
            <a:p>
              <a:pPr algn="ctr"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2200" b="1" dirty="0">
                  <a:solidFill>
                    <a:srgbClr val="5F5C6D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GRPO</a:t>
              </a:r>
              <a:br>
                <a:rPr lang="en-US" altLang="zh-CN" sz="2200" b="1" dirty="0">
                  <a:solidFill>
                    <a:srgbClr val="5F5C6D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</a:br>
              <a:r>
                <a:rPr lang="en-US" altLang="zh-CN" b="1" dirty="0">
                  <a:solidFill>
                    <a:srgbClr val="5F5C6D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Trained on Baseline</a:t>
              </a: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C05429B3-FB20-8DBC-1E50-9B02441E1BBD}"/>
                </a:ext>
              </a:extLst>
            </p:cNvPr>
            <p:cNvSpPr/>
            <p:nvPr/>
          </p:nvSpPr>
          <p:spPr>
            <a:xfrm>
              <a:off x="5803105" y="4155540"/>
              <a:ext cx="3629706" cy="928822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0 w 3123406"/>
                <a:gd name="connsiteY5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7CB"/>
            </a:solidFill>
            <a:ln>
              <a:solidFill>
                <a:schemeClr val="bg1"/>
              </a:solidFill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7348" tIns="58674" rIns="341677" bIns="58674" numCol="1" spcCol="1270" anchor="ctr" anchorCtr="0">
              <a:noAutofit/>
            </a:bodyPr>
            <a:lstStyle/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b="1" dirty="0">
                  <a:solidFill>
                    <a:srgbClr val="47455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Baseline</a:t>
              </a:r>
            </a:p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solidFill>
                    <a:srgbClr val="47455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Qwen2.5-Coder-1.5B</a:t>
              </a:r>
              <a:endParaRPr lang="zh-CN" altLang="en-US" b="1" dirty="0">
                <a:solidFill>
                  <a:srgbClr val="47455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34CE94F8-7E78-7649-5D42-CFD23C861DDE}"/>
                </a:ext>
              </a:extLst>
            </p:cNvPr>
            <p:cNvSpPr/>
            <p:nvPr/>
          </p:nvSpPr>
          <p:spPr>
            <a:xfrm>
              <a:off x="8699407" y="4155540"/>
              <a:ext cx="3629706" cy="928822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624681 w 3123406"/>
                <a:gd name="connsiteY5" fmla="*/ 624681 h 1249362"/>
                <a:gd name="connsiteX6" fmla="*/ 0 w 3123406"/>
                <a:gd name="connsiteY6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624681" y="624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BF7"/>
            </a:solidFill>
            <a:ln>
              <a:solidFill>
                <a:schemeClr val="bg1"/>
              </a:solidFill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820706" tIns="130683" rIns="690023" bIns="130683" numCol="1" spcCol="1270" anchor="ctr" anchorCtr="0">
              <a:noAutofit/>
            </a:bodyPr>
            <a:lstStyle/>
            <a:p>
              <a:pPr algn="ctr"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2200" b="1" dirty="0">
                  <a:solidFill>
                    <a:srgbClr val="483E8A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SFT</a:t>
              </a:r>
              <a:br>
                <a:rPr lang="en-US" altLang="zh-CN" sz="22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b="1" dirty="0" err="1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CoT</a:t>
              </a:r>
              <a:r>
                <a:rPr lang="en-US" altLang="zh-CN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Fine-tuning</a:t>
              </a:r>
              <a:endParaRPr lang="en-US" altLang="zh-CN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8ACCAB6A-A559-719F-D212-8FCD2C98F233}"/>
                </a:ext>
              </a:extLst>
            </p:cNvPr>
            <p:cNvSpPr/>
            <p:nvPr/>
          </p:nvSpPr>
          <p:spPr>
            <a:xfrm>
              <a:off x="11563893" y="4155540"/>
              <a:ext cx="3629706" cy="928822"/>
            </a:xfrm>
            <a:custGeom>
              <a:avLst/>
              <a:gdLst>
                <a:gd name="connsiteX0" fmla="*/ 0 w 3123406"/>
                <a:gd name="connsiteY0" fmla="*/ 0 h 1249362"/>
                <a:gd name="connsiteX1" fmla="*/ 2498725 w 3123406"/>
                <a:gd name="connsiteY1" fmla="*/ 0 h 1249362"/>
                <a:gd name="connsiteX2" fmla="*/ 3123406 w 3123406"/>
                <a:gd name="connsiteY2" fmla="*/ 624681 h 1249362"/>
                <a:gd name="connsiteX3" fmla="*/ 2498725 w 3123406"/>
                <a:gd name="connsiteY3" fmla="*/ 1249362 h 1249362"/>
                <a:gd name="connsiteX4" fmla="*/ 0 w 3123406"/>
                <a:gd name="connsiteY4" fmla="*/ 1249362 h 1249362"/>
                <a:gd name="connsiteX5" fmla="*/ 624681 w 3123406"/>
                <a:gd name="connsiteY5" fmla="*/ 624681 h 1249362"/>
                <a:gd name="connsiteX6" fmla="*/ 0 w 3123406"/>
                <a:gd name="connsiteY6" fmla="*/ 0 h 1249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3406" h="1249362">
                  <a:moveTo>
                    <a:pt x="0" y="0"/>
                  </a:moveTo>
                  <a:lnTo>
                    <a:pt x="2498725" y="0"/>
                  </a:lnTo>
                  <a:lnTo>
                    <a:pt x="3123406" y="624681"/>
                  </a:lnTo>
                  <a:lnTo>
                    <a:pt x="2498725" y="1249362"/>
                  </a:lnTo>
                  <a:lnTo>
                    <a:pt x="0" y="1249362"/>
                  </a:lnTo>
                  <a:lnTo>
                    <a:pt x="624681" y="624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ACA9"/>
            </a:solidFill>
            <a:ln>
              <a:solidFill>
                <a:schemeClr val="bg1"/>
              </a:solidFill>
              <a:round/>
            </a:ln>
            <a:effectLst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820706" tIns="130683" rIns="690023" bIns="130683" numCol="1" spcCol="1270" anchor="ctr" anchorCtr="0">
              <a:noAutofit/>
            </a:bodyPr>
            <a:lstStyle/>
            <a:p>
              <a:pPr algn="ctr"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2200" b="1" dirty="0">
                  <a:solidFill>
                    <a:srgbClr val="47464F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GRPO</a:t>
              </a:r>
              <a:br>
                <a:rPr lang="en-US" altLang="zh-CN" sz="2200" b="1" dirty="0">
                  <a:solidFill>
                    <a:srgbClr val="47464F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</a:br>
              <a:r>
                <a:rPr lang="en-US" altLang="zh-CN" b="1" dirty="0">
                  <a:solidFill>
                    <a:srgbClr val="47464F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Trained on SFT-Based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D28208C-8CD4-50B4-6278-FFDE6D8ED7DF}"/>
                </a:ext>
              </a:extLst>
            </p:cNvPr>
            <p:cNvSpPr txBox="1"/>
            <p:nvPr/>
          </p:nvSpPr>
          <p:spPr>
            <a:xfrm>
              <a:off x="4324664" y="620204"/>
              <a:ext cx="14510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Baseline</a:t>
              </a:r>
              <a:endParaRPr lang="zh-CN" altLang="en-US" sz="24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995FF53-168C-5D17-E3FA-B47C59F40D7F}"/>
                </a:ext>
              </a:extLst>
            </p:cNvPr>
            <p:cNvSpPr txBox="1"/>
            <p:nvPr/>
          </p:nvSpPr>
          <p:spPr>
            <a:xfrm>
              <a:off x="4242270" y="1880238"/>
              <a:ext cx="15334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SFT-Only</a:t>
              </a:r>
              <a:endParaRPr lang="zh-CN" altLang="en-US" sz="24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FC0BA9A-A43D-839C-D566-5BD4F5FBAB68}"/>
                </a:ext>
              </a:extLst>
            </p:cNvPr>
            <p:cNvSpPr txBox="1"/>
            <p:nvPr/>
          </p:nvSpPr>
          <p:spPr>
            <a:xfrm>
              <a:off x="3899868" y="3140272"/>
              <a:ext cx="18758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GRPO-Only</a:t>
              </a:r>
              <a:endParaRPr lang="zh-CN" altLang="en-US" sz="24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E9C37AC-CAB0-D433-836F-C6182628A77D}"/>
                </a:ext>
              </a:extLst>
            </p:cNvPr>
            <p:cNvSpPr txBox="1"/>
            <p:nvPr/>
          </p:nvSpPr>
          <p:spPr>
            <a:xfrm>
              <a:off x="3925516" y="4400306"/>
              <a:ext cx="18501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SFT+GRPO</a:t>
              </a:r>
              <a:endParaRPr lang="zh-CN" altLang="en-US" sz="24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A53C418-374D-2327-4879-35F91D452ABF}"/>
                </a:ext>
              </a:extLst>
            </p:cNvPr>
            <p:cNvSpPr txBox="1"/>
            <p:nvPr/>
          </p:nvSpPr>
          <p:spPr>
            <a:xfrm>
              <a:off x="2889334" y="5660342"/>
              <a:ext cx="28863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483E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GRPO(SFT-Based)</a:t>
              </a:r>
              <a:endParaRPr lang="zh-CN" altLang="en-US" sz="24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7234D062-9559-6360-4017-EA1E25F76E37}"/>
                </a:ext>
              </a:extLst>
            </p:cNvPr>
            <p:cNvSpPr/>
            <p:nvPr/>
          </p:nvSpPr>
          <p:spPr>
            <a:xfrm>
              <a:off x="3118214" y="3947160"/>
              <a:ext cx="12472306" cy="1278895"/>
            </a:xfrm>
            <a:custGeom>
              <a:avLst/>
              <a:gdLst>
                <a:gd name="connsiteX0" fmla="*/ 0 w 12472306"/>
                <a:gd name="connsiteY0" fmla="*/ 213153 h 1278895"/>
                <a:gd name="connsiteX1" fmla="*/ 213153 w 12472306"/>
                <a:gd name="connsiteY1" fmla="*/ 0 h 1278895"/>
                <a:gd name="connsiteX2" fmla="*/ 1123295 w 12472306"/>
                <a:gd name="connsiteY2" fmla="*/ 0 h 1278895"/>
                <a:gd name="connsiteX3" fmla="*/ 1912977 w 12472306"/>
                <a:gd name="connsiteY3" fmla="*/ 0 h 1278895"/>
                <a:gd name="connsiteX4" fmla="*/ 2582200 w 12472306"/>
                <a:gd name="connsiteY4" fmla="*/ 0 h 1278895"/>
                <a:gd name="connsiteX5" fmla="*/ 3010502 w 12472306"/>
                <a:gd name="connsiteY5" fmla="*/ 0 h 1278895"/>
                <a:gd name="connsiteX6" fmla="*/ 3800184 w 12472306"/>
                <a:gd name="connsiteY6" fmla="*/ 0 h 1278895"/>
                <a:gd name="connsiteX7" fmla="*/ 4348946 w 12472306"/>
                <a:gd name="connsiteY7" fmla="*/ 0 h 1278895"/>
                <a:gd name="connsiteX8" fmla="*/ 4656789 w 12472306"/>
                <a:gd name="connsiteY8" fmla="*/ 0 h 1278895"/>
                <a:gd name="connsiteX9" fmla="*/ 5326011 w 12472306"/>
                <a:gd name="connsiteY9" fmla="*/ 0 h 1278895"/>
                <a:gd name="connsiteX10" fmla="*/ 5633853 w 12472306"/>
                <a:gd name="connsiteY10" fmla="*/ 0 h 1278895"/>
                <a:gd name="connsiteX11" fmla="*/ 6303075 w 12472306"/>
                <a:gd name="connsiteY11" fmla="*/ 0 h 1278895"/>
                <a:gd name="connsiteX12" fmla="*/ 6731377 w 12472306"/>
                <a:gd name="connsiteY12" fmla="*/ 0 h 1278895"/>
                <a:gd name="connsiteX13" fmla="*/ 7280140 w 12472306"/>
                <a:gd name="connsiteY13" fmla="*/ 0 h 1278895"/>
                <a:gd name="connsiteX14" fmla="*/ 7587982 w 12472306"/>
                <a:gd name="connsiteY14" fmla="*/ 0 h 1278895"/>
                <a:gd name="connsiteX15" fmla="*/ 8136744 w 12472306"/>
                <a:gd name="connsiteY15" fmla="*/ 0 h 1278895"/>
                <a:gd name="connsiteX16" fmla="*/ 8444586 w 12472306"/>
                <a:gd name="connsiteY16" fmla="*/ 0 h 1278895"/>
                <a:gd name="connsiteX17" fmla="*/ 9354729 w 12472306"/>
                <a:gd name="connsiteY17" fmla="*/ 0 h 1278895"/>
                <a:gd name="connsiteX18" fmla="*/ 10264871 w 12472306"/>
                <a:gd name="connsiteY18" fmla="*/ 0 h 1278895"/>
                <a:gd name="connsiteX19" fmla="*/ 11054553 w 12472306"/>
                <a:gd name="connsiteY19" fmla="*/ 0 h 1278895"/>
                <a:gd name="connsiteX20" fmla="*/ 12259153 w 12472306"/>
                <a:gd name="connsiteY20" fmla="*/ 0 h 1278895"/>
                <a:gd name="connsiteX21" fmla="*/ 12472306 w 12472306"/>
                <a:gd name="connsiteY21" fmla="*/ 213153 h 1278895"/>
                <a:gd name="connsiteX22" fmla="*/ 12472306 w 12472306"/>
                <a:gd name="connsiteY22" fmla="*/ 656499 h 1278895"/>
                <a:gd name="connsiteX23" fmla="*/ 12472306 w 12472306"/>
                <a:gd name="connsiteY23" fmla="*/ 1065742 h 1278895"/>
                <a:gd name="connsiteX24" fmla="*/ 12259153 w 12472306"/>
                <a:gd name="connsiteY24" fmla="*/ 1278895 h 1278895"/>
                <a:gd name="connsiteX25" fmla="*/ 11469471 w 12472306"/>
                <a:gd name="connsiteY25" fmla="*/ 1278895 h 1278895"/>
                <a:gd name="connsiteX26" fmla="*/ 10679789 w 12472306"/>
                <a:gd name="connsiteY26" fmla="*/ 1278895 h 1278895"/>
                <a:gd name="connsiteX27" fmla="*/ 10010566 w 12472306"/>
                <a:gd name="connsiteY27" fmla="*/ 1278895 h 1278895"/>
                <a:gd name="connsiteX28" fmla="*/ 9461804 w 12472306"/>
                <a:gd name="connsiteY28" fmla="*/ 1278895 h 1278895"/>
                <a:gd name="connsiteX29" fmla="*/ 8792582 w 12472306"/>
                <a:gd name="connsiteY29" fmla="*/ 1278895 h 1278895"/>
                <a:gd name="connsiteX30" fmla="*/ 8484740 w 12472306"/>
                <a:gd name="connsiteY30" fmla="*/ 1278895 h 1278895"/>
                <a:gd name="connsiteX31" fmla="*/ 8176897 w 12472306"/>
                <a:gd name="connsiteY31" fmla="*/ 1278895 h 1278895"/>
                <a:gd name="connsiteX32" fmla="*/ 7869055 w 12472306"/>
                <a:gd name="connsiteY32" fmla="*/ 1278895 h 1278895"/>
                <a:gd name="connsiteX33" fmla="*/ 7199833 w 12472306"/>
                <a:gd name="connsiteY33" fmla="*/ 1278895 h 1278895"/>
                <a:gd name="connsiteX34" fmla="*/ 6410151 w 12472306"/>
                <a:gd name="connsiteY34" fmla="*/ 1278895 h 1278895"/>
                <a:gd name="connsiteX35" fmla="*/ 6102309 w 12472306"/>
                <a:gd name="connsiteY35" fmla="*/ 1278895 h 1278895"/>
                <a:gd name="connsiteX36" fmla="*/ 5674006 w 12472306"/>
                <a:gd name="connsiteY36" fmla="*/ 1278895 h 1278895"/>
                <a:gd name="connsiteX37" fmla="*/ 5366164 w 12472306"/>
                <a:gd name="connsiteY37" fmla="*/ 1278895 h 1278895"/>
                <a:gd name="connsiteX38" fmla="*/ 4937862 w 12472306"/>
                <a:gd name="connsiteY38" fmla="*/ 1278895 h 1278895"/>
                <a:gd name="connsiteX39" fmla="*/ 4027720 w 12472306"/>
                <a:gd name="connsiteY39" fmla="*/ 1278895 h 1278895"/>
                <a:gd name="connsiteX40" fmla="*/ 3478957 w 12472306"/>
                <a:gd name="connsiteY40" fmla="*/ 1278895 h 1278895"/>
                <a:gd name="connsiteX41" fmla="*/ 2568815 w 12472306"/>
                <a:gd name="connsiteY41" fmla="*/ 1278895 h 1278895"/>
                <a:gd name="connsiteX42" fmla="*/ 2260973 w 12472306"/>
                <a:gd name="connsiteY42" fmla="*/ 1278895 h 1278895"/>
                <a:gd name="connsiteX43" fmla="*/ 1350831 w 12472306"/>
                <a:gd name="connsiteY43" fmla="*/ 1278895 h 1278895"/>
                <a:gd name="connsiteX44" fmla="*/ 802069 w 12472306"/>
                <a:gd name="connsiteY44" fmla="*/ 1278895 h 1278895"/>
                <a:gd name="connsiteX45" fmla="*/ 213153 w 12472306"/>
                <a:gd name="connsiteY45" fmla="*/ 1278895 h 1278895"/>
                <a:gd name="connsiteX46" fmla="*/ 0 w 12472306"/>
                <a:gd name="connsiteY46" fmla="*/ 1065742 h 1278895"/>
                <a:gd name="connsiteX47" fmla="*/ 0 w 12472306"/>
                <a:gd name="connsiteY47" fmla="*/ 639448 h 1278895"/>
                <a:gd name="connsiteX48" fmla="*/ 0 w 12472306"/>
                <a:gd name="connsiteY48" fmla="*/ 213153 h 1278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2472306" h="1278895" extrusionOk="0">
                  <a:moveTo>
                    <a:pt x="0" y="213153"/>
                  </a:moveTo>
                  <a:cubicBezTo>
                    <a:pt x="-4102" y="99370"/>
                    <a:pt x="95378" y="2756"/>
                    <a:pt x="213153" y="0"/>
                  </a:cubicBezTo>
                  <a:cubicBezTo>
                    <a:pt x="466702" y="-28947"/>
                    <a:pt x="719820" y="-39034"/>
                    <a:pt x="1123295" y="0"/>
                  </a:cubicBezTo>
                  <a:cubicBezTo>
                    <a:pt x="1526770" y="39034"/>
                    <a:pt x="1524470" y="-4062"/>
                    <a:pt x="1912977" y="0"/>
                  </a:cubicBezTo>
                  <a:cubicBezTo>
                    <a:pt x="2301484" y="4062"/>
                    <a:pt x="2295324" y="21899"/>
                    <a:pt x="2582200" y="0"/>
                  </a:cubicBezTo>
                  <a:cubicBezTo>
                    <a:pt x="2869076" y="-21899"/>
                    <a:pt x="2833976" y="-3534"/>
                    <a:pt x="3010502" y="0"/>
                  </a:cubicBezTo>
                  <a:cubicBezTo>
                    <a:pt x="3187028" y="3534"/>
                    <a:pt x="3452825" y="28394"/>
                    <a:pt x="3800184" y="0"/>
                  </a:cubicBezTo>
                  <a:cubicBezTo>
                    <a:pt x="4147543" y="-28394"/>
                    <a:pt x="4204257" y="18037"/>
                    <a:pt x="4348946" y="0"/>
                  </a:cubicBezTo>
                  <a:cubicBezTo>
                    <a:pt x="4493635" y="-18037"/>
                    <a:pt x="4543522" y="-10983"/>
                    <a:pt x="4656789" y="0"/>
                  </a:cubicBezTo>
                  <a:cubicBezTo>
                    <a:pt x="4770056" y="10983"/>
                    <a:pt x="5075407" y="17799"/>
                    <a:pt x="5326011" y="0"/>
                  </a:cubicBezTo>
                  <a:cubicBezTo>
                    <a:pt x="5576615" y="-17799"/>
                    <a:pt x="5515672" y="7012"/>
                    <a:pt x="5633853" y="0"/>
                  </a:cubicBezTo>
                  <a:cubicBezTo>
                    <a:pt x="5752034" y="-7012"/>
                    <a:pt x="6168503" y="-14494"/>
                    <a:pt x="6303075" y="0"/>
                  </a:cubicBezTo>
                  <a:cubicBezTo>
                    <a:pt x="6437647" y="14494"/>
                    <a:pt x="6521133" y="-12602"/>
                    <a:pt x="6731377" y="0"/>
                  </a:cubicBezTo>
                  <a:cubicBezTo>
                    <a:pt x="6941621" y="12602"/>
                    <a:pt x="7085003" y="-11852"/>
                    <a:pt x="7280140" y="0"/>
                  </a:cubicBezTo>
                  <a:cubicBezTo>
                    <a:pt x="7475277" y="11852"/>
                    <a:pt x="7502473" y="-14449"/>
                    <a:pt x="7587982" y="0"/>
                  </a:cubicBezTo>
                  <a:cubicBezTo>
                    <a:pt x="7673491" y="14449"/>
                    <a:pt x="7865819" y="18992"/>
                    <a:pt x="8136744" y="0"/>
                  </a:cubicBezTo>
                  <a:cubicBezTo>
                    <a:pt x="8407669" y="-18992"/>
                    <a:pt x="8317870" y="13468"/>
                    <a:pt x="8444586" y="0"/>
                  </a:cubicBezTo>
                  <a:cubicBezTo>
                    <a:pt x="8571302" y="-13468"/>
                    <a:pt x="9157599" y="-16518"/>
                    <a:pt x="9354729" y="0"/>
                  </a:cubicBezTo>
                  <a:cubicBezTo>
                    <a:pt x="9551859" y="16518"/>
                    <a:pt x="9896763" y="-19767"/>
                    <a:pt x="10264871" y="0"/>
                  </a:cubicBezTo>
                  <a:cubicBezTo>
                    <a:pt x="10632979" y="19767"/>
                    <a:pt x="10667781" y="19355"/>
                    <a:pt x="11054553" y="0"/>
                  </a:cubicBezTo>
                  <a:cubicBezTo>
                    <a:pt x="11441325" y="-19355"/>
                    <a:pt x="11821733" y="39013"/>
                    <a:pt x="12259153" y="0"/>
                  </a:cubicBezTo>
                  <a:cubicBezTo>
                    <a:pt x="12381402" y="5279"/>
                    <a:pt x="12467176" y="106316"/>
                    <a:pt x="12472306" y="213153"/>
                  </a:cubicBezTo>
                  <a:cubicBezTo>
                    <a:pt x="12469768" y="338157"/>
                    <a:pt x="12463856" y="479802"/>
                    <a:pt x="12472306" y="656499"/>
                  </a:cubicBezTo>
                  <a:cubicBezTo>
                    <a:pt x="12480756" y="833196"/>
                    <a:pt x="12482345" y="934669"/>
                    <a:pt x="12472306" y="1065742"/>
                  </a:cubicBezTo>
                  <a:cubicBezTo>
                    <a:pt x="12472636" y="1179615"/>
                    <a:pt x="12385031" y="1292644"/>
                    <a:pt x="12259153" y="1278895"/>
                  </a:cubicBezTo>
                  <a:cubicBezTo>
                    <a:pt x="12036497" y="1293668"/>
                    <a:pt x="11654600" y="1316796"/>
                    <a:pt x="11469471" y="1278895"/>
                  </a:cubicBezTo>
                  <a:cubicBezTo>
                    <a:pt x="11284342" y="1240994"/>
                    <a:pt x="11055699" y="1288079"/>
                    <a:pt x="10679789" y="1278895"/>
                  </a:cubicBezTo>
                  <a:cubicBezTo>
                    <a:pt x="10303879" y="1269711"/>
                    <a:pt x="10337460" y="1261438"/>
                    <a:pt x="10010566" y="1278895"/>
                  </a:cubicBezTo>
                  <a:cubicBezTo>
                    <a:pt x="9683672" y="1296352"/>
                    <a:pt x="9714951" y="1273568"/>
                    <a:pt x="9461804" y="1278895"/>
                  </a:cubicBezTo>
                  <a:cubicBezTo>
                    <a:pt x="9208657" y="1284222"/>
                    <a:pt x="9059986" y="1249703"/>
                    <a:pt x="8792582" y="1278895"/>
                  </a:cubicBezTo>
                  <a:cubicBezTo>
                    <a:pt x="8525178" y="1308087"/>
                    <a:pt x="8580900" y="1288364"/>
                    <a:pt x="8484740" y="1278895"/>
                  </a:cubicBezTo>
                  <a:cubicBezTo>
                    <a:pt x="8388580" y="1269426"/>
                    <a:pt x="8268942" y="1277504"/>
                    <a:pt x="8176897" y="1278895"/>
                  </a:cubicBezTo>
                  <a:cubicBezTo>
                    <a:pt x="8084852" y="1280286"/>
                    <a:pt x="8014693" y="1272128"/>
                    <a:pt x="7869055" y="1278895"/>
                  </a:cubicBezTo>
                  <a:cubicBezTo>
                    <a:pt x="7723417" y="1285662"/>
                    <a:pt x="7465900" y="1280894"/>
                    <a:pt x="7199833" y="1278895"/>
                  </a:cubicBezTo>
                  <a:cubicBezTo>
                    <a:pt x="6933766" y="1276896"/>
                    <a:pt x="6638566" y="1253414"/>
                    <a:pt x="6410151" y="1278895"/>
                  </a:cubicBezTo>
                  <a:cubicBezTo>
                    <a:pt x="6181736" y="1304376"/>
                    <a:pt x="6171304" y="1292415"/>
                    <a:pt x="6102309" y="1278895"/>
                  </a:cubicBezTo>
                  <a:cubicBezTo>
                    <a:pt x="6033314" y="1265375"/>
                    <a:pt x="5875469" y="1283690"/>
                    <a:pt x="5674006" y="1278895"/>
                  </a:cubicBezTo>
                  <a:cubicBezTo>
                    <a:pt x="5472543" y="1274100"/>
                    <a:pt x="5500819" y="1271630"/>
                    <a:pt x="5366164" y="1278895"/>
                  </a:cubicBezTo>
                  <a:cubicBezTo>
                    <a:pt x="5231509" y="1286160"/>
                    <a:pt x="5039035" y="1288014"/>
                    <a:pt x="4937862" y="1278895"/>
                  </a:cubicBezTo>
                  <a:cubicBezTo>
                    <a:pt x="4836689" y="1269776"/>
                    <a:pt x="4293949" y="1250426"/>
                    <a:pt x="4027720" y="1278895"/>
                  </a:cubicBezTo>
                  <a:cubicBezTo>
                    <a:pt x="3761491" y="1307364"/>
                    <a:pt x="3649108" y="1287417"/>
                    <a:pt x="3478957" y="1278895"/>
                  </a:cubicBezTo>
                  <a:cubicBezTo>
                    <a:pt x="3308806" y="1270373"/>
                    <a:pt x="2964015" y="1299497"/>
                    <a:pt x="2568815" y="1278895"/>
                  </a:cubicBezTo>
                  <a:cubicBezTo>
                    <a:pt x="2173615" y="1258293"/>
                    <a:pt x="2369263" y="1291318"/>
                    <a:pt x="2260973" y="1278895"/>
                  </a:cubicBezTo>
                  <a:cubicBezTo>
                    <a:pt x="2152683" y="1266472"/>
                    <a:pt x="1763561" y="1281567"/>
                    <a:pt x="1350831" y="1278895"/>
                  </a:cubicBezTo>
                  <a:cubicBezTo>
                    <a:pt x="938101" y="1276223"/>
                    <a:pt x="962313" y="1269351"/>
                    <a:pt x="802069" y="1278895"/>
                  </a:cubicBezTo>
                  <a:cubicBezTo>
                    <a:pt x="641825" y="1288439"/>
                    <a:pt x="368838" y="1301890"/>
                    <a:pt x="213153" y="1278895"/>
                  </a:cubicBezTo>
                  <a:cubicBezTo>
                    <a:pt x="106400" y="1278765"/>
                    <a:pt x="27740" y="1179660"/>
                    <a:pt x="0" y="1065742"/>
                  </a:cubicBezTo>
                  <a:cubicBezTo>
                    <a:pt x="17744" y="886950"/>
                    <a:pt x="-1895" y="726351"/>
                    <a:pt x="0" y="639448"/>
                  </a:cubicBezTo>
                  <a:cubicBezTo>
                    <a:pt x="1895" y="552545"/>
                    <a:pt x="12370" y="398548"/>
                    <a:pt x="0" y="213153"/>
                  </a:cubicBezTo>
                  <a:close/>
                </a:path>
              </a:pathLst>
            </a:custGeom>
            <a:noFill/>
            <a:ln w="57150">
              <a:solidFill>
                <a:srgbClr val="DF5B7F"/>
              </a:solidFill>
              <a:extLst>
                <a:ext uri="{C807C97D-BFC1-408E-A445-0C87EB9F89A2}">
                  <ask:lineSketchStyleProps xmlns:ask="http://schemas.microsoft.com/office/drawing/2018/sketchyshapes" sd="1119746577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63BFB634-346C-03F3-CE1C-2F45FC06E2EB}"/>
                    </a:ext>
                  </a:extLst>
                </p14:cNvPr>
                <p14:cNvContentPartPr/>
                <p14:nvPr/>
              </p14:nvContentPartPr>
              <p14:xfrm>
                <a:off x="3652080" y="3347360"/>
                <a:ext cx="360" cy="3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63BFB634-346C-03F3-CE1C-2F45FC06E2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89080" y="2969360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C7AA1190-2736-1C03-7392-E379A53B0A26}"/>
                    </a:ext>
                  </a:extLst>
                </p14:cNvPr>
                <p14:cNvContentPartPr/>
                <p14:nvPr/>
              </p14:nvContentPartPr>
              <p14:xfrm>
                <a:off x="1838800" y="2296000"/>
                <a:ext cx="360" cy="3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C7AA1190-2736-1C03-7392-E379A53B0A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75800" y="1918000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011A3E4-3A93-DD64-D53E-BBC00EBA4692}"/>
                </a:ext>
              </a:extLst>
            </p:cNvPr>
            <p:cNvSpPr/>
            <p:nvPr/>
          </p:nvSpPr>
          <p:spPr>
            <a:xfrm>
              <a:off x="2906802" y="3601937"/>
              <a:ext cx="1017633" cy="638894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67D247BF-65F4-3F1C-3478-4E6407BD2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946350">
              <a:off x="2581059" y="3201232"/>
              <a:ext cx="1721700" cy="1721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776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87D4B-DEA2-4B55-164B-B21378D2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6C665432-A0A2-B42D-BD74-1A332E1F4768}"/>
              </a:ext>
            </a:extLst>
          </p:cNvPr>
          <p:cNvSpPr/>
          <p:nvPr/>
        </p:nvSpPr>
        <p:spPr>
          <a:xfrm>
            <a:off x="5803105" y="1631945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483E8A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rgbClr val="483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C758455C-FC24-EF9D-3A47-2525AE6FA135}"/>
              </a:ext>
            </a:extLst>
          </p:cNvPr>
          <p:cNvSpPr/>
          <p:nvPr/>
        </p:nvSpPr>
        <p:spPr>
          <a:xfrm>
            <a:off x="8699407" y="1626038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E13B58EE-CDDD-1766-28AE-99DE5BCA2B64}"/>
              </a:ext>
            </a:extLst>
          </p:cNvPr>
          <p:cNvSpPr/>
          <p:nvPr/>
        </p:nvSpPr>
        <p:spPr>
          <a:xfrm>
            <a:off x="5803105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483E8A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rgbClr val="483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545F8FE-96FE-C11B-55C2-CA85199E57FC}"/>
              </a:ext>
            </a:extLst>
          </p:cNvPr>
          <p:cNvSpPr/>
          <p:nvPr/>
        </p:nvSpPr>
        <p:spPr>
          <a:xfrm>
            <a:off x="8699407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prstDash val="sysDash"/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Fine-tuning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080436A-B298-0A88-F34E-FCA1BF754B16}"/>
              </a:ext>
            </a:extLst>
          </p:cNvPr>
          <p:cNvSpPr/>
          <p:nvPr/>
        </p:nvSpPr>
        <p:spPr>
          <a:xfrm>
            <a:off x="11563893" y="5416319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D19F9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5E83A939-B256-37E8-ACF9-1A6AAA04DB19}"/>
              </a:ext>
            </a:extLst>
          </p:cNvPr>
          <p:cNvSpPr/>
          <p:nvPr/>
        </p:nvSpPr>
        <p:spPr>
          <a:xfrm>
            <a:off x="5803105" y="373206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483E8A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rgbClr val="483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9FF277BF-5169-389C-279C-44F326F73042}"/>
              </a:ext>
            </a:extLst>
          </p:cNvPr>
          <p:cNvSpPr/>
          <p:nvPr/>
        </p:nvSpPr>
        <p:spPr>
          <a:xfrm>
            <a:off x="5803105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483E8A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rgbClr val="483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2FD32CEA-BB97-1852-5E3D-B8149687CA5C}"/>
              </a:ext>
            </a:extLst>
          </p:cNvPr>
          <p:cNvSpPr/>
          <p:nvPr/>
        </p:nvSpPr>
        <p:spPr>
          <a:xfrm>
            <a:off x="8699407" y="2894762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C8D5B9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Baseline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C3861271-31EE-9859-7012-FF124E20A86D}"/>
              </a:ext>
            </a:extLst>
          </p:cNvPr>
          <p:cNvSpPr/>
          <p:nvPr/>
        </p:nvSpPr>
        <p:spPr>
          <a:xfrm>
            <a:off x="5803105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0 w 3123406"/>
              <a:gd name="connsiteY5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0" y="0"/>
                </a:lnTo>
                <a:close/>
              </a:path>
            </a:pathLst>
          </a:custGeom>
          <a:solidFill>
            <a:srgbClr val="483E8A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348" tIns="58674" rIns="341677" bIns="58674" numCol="1" spcCol="1270" anchor="ctr" anchorCtr="0">
            <a:noAutofit/>
          </a:bodyPr>
          <a:lstStyle/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Qwen2.5-Coder-1.5B</a:t>
            </a:r>
            <a:endParaRPr lang="zh-CN" altLang="en-US" b="1" dirty="0">
              <a:solidFill>
                <a:srgbClr val="483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9F85A0E-B5A3-C33F-06CA-E0A933DAC936}"/>
              </a:ext>
            </a:extLst>
          </p:cNvPr>
          <p:cNvSpPr/>
          <p:nvPr/>
        </p:nvSpPr>
        <p:spPr>
          <a:xfrm>
            <a:off x="8699407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EDEBF7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SFT</a:t>
            </a:r>
            <a:b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1" dirty="0" err="1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Fine-tuning</a:t>
            </a:r>
            <a:endParaRPr lang="en-US" altLang="zh-CN" b="1" dirty="0">
              <a:solidFill>
                <a:srgbClr val="483E8A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418DC100-E4AC-747F-22AA-D01B0EABA3F3}"/>
              </a:ext>
            </a:extLst>
          </p:cNvPr>
          <p:cNvSpPr/>
          <p:nvPr/>
        </p:nvSpPr>
        <p:spPr>
          <a:xfrm>
            <a:off x="11563893" y="4155540"/>
            <a:ext cx="3629706" cy="928822"/>
          </a:xfrm>
          <a:custGeom>
            <a:avLst/>
            <a:gdLst>
              <a:gd name="connsiteX0" fmla="*/ 0 w 3123406"/>
              <a:gd name="connsiteY0" fmla="*/ 0 h 1249362"/>
              <a:gd name="connsiteX1" fmla="*/ 2498725 w 3123406"/>
              <a:gd name="connsiteY1" fmla="*/ 0 h 1249362"/>
              <a:gd name="connsiteX2" fmla="*/ 3123406 w 3123406"/>
              <a:gd name="connsiteY2" fmla="*/ 624681 h 1249362"/>
              <a:gd name="connsiteX3" fmla="*/ 2498725 w 3123406"/>
              <a:gd name="connsiteY3" fmla="*/ 1249362 h 1249362"/>
              <a:gd name="connsiteX4" fmla="*/ 0 w 3123406"/>
              <a:gd name="connsiteY4" fmla="*/ 1249362 h 1249362"/>
              <a:gd name="connsiteX5" fmla="*/ 624681 w 3123406"/>
              <a:gd name="connsiteY5" fmla="*/ 624681 h 1249362"/>
              <a:gd name="connsiteX6" fmla="*/ 0 w 3123406"/>
              <a:gd name="connsiteY6" fmla="*/ 0 h 1249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23406" h="1249362">
                <a:moveTo>
                  <a:pt x="0" y="0"/>
                </a:moveTo>
                <a:lnTo>
                  <a:pt x="2498725" y="0"/>
                </a:lnTo>
                <a:lnTo>
                  <a:pt x="3123406" y="624681"/>
                </a:lnTo>
                <a:lnTo>
                  <a:pt x="2498725" y="1249362"/>
                </a:lnTo>
                <a:lnTo>
                  <a:pt x="0" y="1249362"/>
                </a:lnTo>
                <a:lnTo>
                  <a:pt x="624681" y="624681"/>
                </a:lnTo>
                <a:lnTo>
                  <a:pt x="0" y="0"/>
                </a:lnTo>
                <a:close/>
              </a:path>
            </a:pathLst>
          </a:custGeom>
          <a:solidFill>
            <a:srgbClr val="D19F9B"/>
          </a:solidFill>
          <a:ln>
            <a:solidFill>
              <a:schemeClr val="bg1"/>
            </a:solidFill>
            <a:round/>
          </a:ln>
          <a:effectLst/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820706" tIns="130683" rIns="690023" bIns="130683" numCol="1" spcCol="1270" anchor="ctr" anchorCtr="0">
            <a:noAutofit/>
          </a:bodyPr>
          <a:lstStyle/>
          <a:p>
            <a:pPr algn="ctr"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GRPO</a:t>
            </a:r>
            <a:br>
              <a:rPr lang="en-US" altLang="zh-CN" sz="2200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rgbClr val="483E8A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Trained on SFT-Based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77058B5-46A5-94FF-F246-4AE91A43FF7A}"/>
              </a:ext>
            </a:extLst>
          </p:cNvPr>
          <p:cNvSpPr txBox="1"/>
          <p:nvPr/>
        </p:nvSpPr>
        <p:spPr>
          <a:xfrm>
            <a:off x="4324664" y="620204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endParaRPr lang="zh-CN" altLang="en-US" sz="2400" b="1" dirty="0">
              <a:solidFill>
                <a:srgbClr val="483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591710-1843-2629-E784-E8A0AE2079D4}"/>
              </a:ext>
            </a:extLst>
          </p:cNvPr>
          <p:cNvSpPr txBox="1"/>
          <p:nvPr/>
        </p:nvSpPr>
        <p:spPr>
          <a:xfrm>
            <a:off x="4242270" y="1880238"/>
            <a:ext cx="1533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SFT-Only</a:t>
            </a:r>
            <a:endParaRPr lang="zh-CN" altLang="en-US" sz="2400" b="1" dirty="0">
              <a:solidFill>
                <a:srgbClr val="483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4C22BF3-DC91-C305-203E-F01FFCECDA0E}"/>
              </a:ext>
            </a:extLst>
          </p:cNvPr>
          <p:cNvSpPr txBox="1"/>
          <p:nvPr/>
        </p:nvSpPr>
        <p:spPr>
          <a:xfrm>
            <a:off x="3899868" y="3140272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GRPO-Only</a:t>
            </a:r>
            <a:endParaRPr lang="zh-CN" altLang="en-US" sz="2400" b="1" dirty="0">
              <a:solidFill>
                <a:srgbClr val="483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DF9D8EC-4915-554B-A79B-F61FC2EF66F3}"/>
              </a:ext>
            </a:extLst>
          </p:cNvPr>
          <p:cNvSpPr txBox="1"/>
          <p:nvPr/>
        </p:nvSpPr>
        <p:spPr>
          <a:xfrm>
            <a:off x="3925516" y="4400306"/>
            <a:ext cx="185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SFT+GRPO</a:t>
            </a:r>
            <a:endParaRPr lang="zh-CN" altLang="en-US" sz="2400" b="1" dirty="0">
              <a:solidFill>
                <a:srgbClr val="483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88012D7-C1F0-C203-D016-FF3D9FAF3A68}"/>
              </a:ext>
            </a:extLst>
          </p:cNvPr>
          <p:cNvSpPr txBox="1"/>
          <p:nvPr/>
        </p:nvSpPr>
        <p:spPr>
          <a:xfrm>
            <a:off x="2889334" y="5660342"/>
            <a:ext cx="2886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483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GRPO(SFT-Based)</a:t>
            </a:r>
            <a:endParaRPr lang="zh-CN" altLang="en-US" sz="2400" b="1" dirty="0">
              <a:solidFill>
                <a:srgbClr val="483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32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759442F-A9F5-ED49-E082-FF3032F31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913674"/>
              </p:ext>
            </p:extLst>
          </p:nvPr>
        </p:nvGraphicFramePr>
        <p:xfrm>
          <a:off x="7549356" y="2804954"/>
          <a:ext cx="3213100" cy="239268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157226583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70142357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58512238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Accuracy (%)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749568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GSM8K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56.61%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2637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SFT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61.17%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84187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67.40%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55292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SFT +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68.47%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13364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ARC Easy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73.20%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41514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SFT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74.70%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86388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76.20%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1740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SFT +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76.00%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818382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ARC Challenge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57.70%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40716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SFT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57.90%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82400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57.50%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10988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SFT +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483E8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60.60%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334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437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E358F-F1EA-99A9-B088-0E46E85B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7E83225-A623-6DDF-AA2E-65CF38BFEEA5}"/>
              </a:ext>
            </a:extLst>
          </p:cNvPr>
          <p:cNvGraphicFramePr>
            <a:graphicFrameLocks noGrp="1"/>
          </p:cNvGraphicFramePr>
          <p:nvPr/>
        </p:nvGraphicFramePr>
        <p:xfrm>
          <a:off x="7549356" y="2804954"/>
          <a:ext cx="3213100" cy="239268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157226583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70142357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58512238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Accuracy (%)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49568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GSM8K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56.61%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2637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SFT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61.17%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84187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67.40%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5292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SFT +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68.47%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513364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ARC Easy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73.20%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41514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SFT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74.70%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86388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76.20%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1740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SFT +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76.00%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818382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ARC Challenge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57.70%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40716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SFT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57.90%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82400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Only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57.50%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10988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SFT + GRPO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60.60%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334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655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443</Words>
  <Application>Microsoft Office PowerPoint</Application>
  <PresentationFormat>自定义</PresentationFormat>
  <Paragraphs>207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Yihe Lu</dc:creator>
  <cp:lastModifiedBy>Yihe Lu</cp:lastModifiedBy>
  <cp:revision>3</cp:revision>
  <dcterms:created xsi:type="dcterms:W3CDTF">2025-11-28T02:30:25Z</dcterms:created>
  <dcterms:modified xsi:type="dcterms:W3CDTF">2025-11-29T07:13:11Z</dcterms:modified>
</cp:coreProperties>
</file>